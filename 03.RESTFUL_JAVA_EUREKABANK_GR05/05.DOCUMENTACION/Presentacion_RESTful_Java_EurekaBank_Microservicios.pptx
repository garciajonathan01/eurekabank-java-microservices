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9" r:id="rId11"/>
    <p:sldId id="270" r:id="rId12"/>
    <p:sldId id="271" r:id="rId13"/>
    <p:sldId id="272" r:id="rId14"/>
    <p:sldId id="274" r:id="rId15"/>
    <p:sldId id="275" r:id="rId16"/>
    <p:sldId id="276" r:id="rId17"/>
    <p:sldId id="277" r:id="rId18"/>
    <p:sldId id="278" r:id="rId19"/>
    <p:sldId id="280" r:id="rId20"/>
    <p:sldId id="281" r:id="rId21"/>
    <p:sldId id="282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343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5"/>
          <p:cNvSpPr/>
          <p:nvPr/>
        </p:nvSpPr>
        <p:spPr>
          <a:xfrm>
            <a:off x="-17772" y="3305823"/>
            <a:ext cx="18440399" cy="6424142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 dirty="0"/>
          </a:p>
        </p:txBody>
      </p:sp>
      <p:sp>
        <p:nvSpPr>
          <p:cNvPr id="10" name="Text 6"/>
          <p:cNvSpPr/>
          <p:nvPr/>
        </p:nvSpPr>
        <p:spPr>
          <a:xfrm>
            <a:off x="762000" y="3514725"/>
            <a:ext cx="17288256" cy="1553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6800"/>
              </a:lnSpc>
              <a:buNone/>
            </a:pPr>
            <a:r>
              <a:rPr lang="en-US" sz="4800" b="1" kern="0" spc="4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DE EUREKABANK CON RESTFUL EN JAVA</a:t>
            </a:r>
            <a:endParaRPr lang="en-US" sz="4800" dirty="0"/>
          </a:p>
        </p:txBody>
      </p:sp>
      <p:sp>
        <p:nvSpPr>
          <p:cNvPr id="11" name="Text 7"/>
          <p:cNvSpPr/>
          <p:nvPr/>
        </p:nvSpPr>
        <p:spPr>
          <a:xfrm>
            <a:off x="3448050" y="5877883"/>
            <a:ext cx="19624167" cy="1356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94"/>
              </a:lnSpc>
              <a:buNone/>
            </a:pPr>
            <a:r>
              <a:rPr lang="en-US" sz="2400" kern="0" spc="68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</a:t>
            </a:r>
            <a:r>
              <a:rPr lang="en-US" sz="3200" kern="0" spc="68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</a:t>
            </a:r>
            <a:r>
              <a:rPr lang="en-US" sz="2400" kern="0" spc="68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JAX-RS · PAYARA SERVER · AWS RDS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62000" y="6858000"/>
            <a:ext cx="97154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 — GRUPO 05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0165705" y="6858000"/>
            <a:ext cx="80961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/ FECHA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50000">
                <a:srgbClr val="1A3260">
                  <a:alpha val="100000"/>
                </a:srgbClr>
              </a:gs>
              <a:gs pos="5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18" name="Image 0" descr="/home/claude/template_unpacked/ppt/media/image1.png">
            <a:extLst>
              <a:ext uri="{FF2B5EF4-FFF2-40B4-BE49-F238E27FC236}">
                <a16:creationId xmlns:a16="http://schemas.microsoft.com/office/drawing/2014/main" id="{C31FA54E-72A9-0E41-69BC-CDCEF1212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267742"/>
            <a:ext cx="16385202" cy="295275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D5BA3ED-8933-6BA1-91B8-D3E501635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820"/>
            <a:ext cx="18252459" cy="345543"/>
          </a:xfrm>
          <a:prstGeom prst="rect">
            <a:avLst/>
          </a:prstGeom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6D1075FD-13E3-7144-A1D5-5F39561EE389}"/>
              </a:ext>
            </a:extLst>
          </p:cNvPr>
          <p:cNvSpPr/>
          <p:nvPr/>
        </p:nvSpPr>
        <p:spPr>
          <a:xfrm>
            <a:off x="-1646343" y="9252955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INTEGRANTES:  Richard </a:t>
            </a:r>
            <a:r>
              <a:rPr lang="en-US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Gualotuña</a:t>
            </a:r>
            <a:r>
              <a:rPr lang="en-US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José </a:t>
            </a:r>
            <a:r>
              <a:rPr lang="en-US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Proaño</a:t>
            </a:r>
            <a:r>
              <a:rPr lang="en-US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Jonathan Garcia</a:t>
            </a:r>
            <a:endParaRPr lang="en-US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14FDB770-55E6-1350-6119-82A0838E5485}"/>
              </a:ext>
            </a:extLst>
          </p:cNvPr>
          <p:cNvSpPr/>
          <p:nvPr/>
        </p:nvSpPr>
        <p:spPr>
          <a:xfrm>
            <a:off x="8449056" y="9323922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FECHA: 26/07/2025          ING: CAMPAÑA MAURICIO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23831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GENERAL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162050"/>
            <a:ext cx="137963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23553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(AWS RDS)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4795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29718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3009900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90600" y="3333750"/>
            <a:ext cx="3314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Consola Java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0600" y="3609975"/>
            <a:ext cx="3314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Escritorio JavaFX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0600" y="3886200"/>
            <a:ext cx="3314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 Jakarta 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90600" y="4162425"/>
            <a:ext cx="3314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Móvil Android/Kotlin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3400" y="44386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90600" y="447675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33400" y="48006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90600" y="483870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33400" y="51625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990600" y="520065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PRESENTACIÓN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5143500" y="9820275"/>
            <a:ext cx="43974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ÍNDICE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46" name="Google Shape;108;p2" descr="Resultado de imagen para AGENDA PNG">
            <a:extLst>
              <a:ext uri="{FF2B5EF4-FFF2-40B4-BE49-F238E27FC236}">
                <a16:creationId xmlns:a16="http://schemas.microsoft.com/office/drawing/2014/main" id="{DC50F6B1-98DB-8CAF-F43B-471E4084D5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3146" y="1578820"/>
            <a:ext cx="12264253" cy="6498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6DFA27F7-58FD-BCD8-1664-A2936DCD1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420"/>
            <a:ext cx="18252459" cy="3455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162050"/>
            <a:ext cx="137963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4795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29718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3009900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33400" y="33337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90600" y="337185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533400" y="36957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90600" y="373380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533400" y="40576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90600" y="409575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INTRODUCCIÓN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Banca digital sobre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REST</a:t>
            </a:r>
            <a:endParaRPr lang="en-US" sz="4200" dirty="0"/>
          </a:p>
        </p:txBody>
      </p:sp>
      <p:sp>
        <p:nvSpPr>
          <p:cNvPr id="26" name="Shape 24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5105400" y="1864965"/>
            <a:ext cx="12832461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bancario </a:t>
            </a:r>
            <a:r>
              <a:rPr lang="en-US" sz="1575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las operaciones fundamentales de una cuenta de ahorro: </a:t>
            </a:r>
            <a:r>
              <a:rPr lang="en-US" sz="1575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empleados, consulta de </a:t>
            </a:r>
            <a:r>
              <a:rPr lang="en-US" sz="1575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movimientos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75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depósitos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75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retiros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575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transferencias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cuentas, con persistencia en MySQL hospedada en </a:t>
            </a:r>
            <a:r>
              <a:rPr lang="en-US" sz="1575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105400" y="2566243"/>
            <a:ext cx="12832461" cy="1183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presenta una </a:t>
            </a:r>
            <a:r>
              <a:rPr lang="en-US" sz="1575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dual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servidor monolítico original (</a:t>
            </a:r>
            <a:r>
              <a:rPr lang="en-US" sz="1575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WSEurekaBank_Restfull_Java_G5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que concentra todos los endpoints en un único recurso JAX-RS, y cuatro </a:t>
            </a:r>
            <a:r>
              <a:rPr lang="en-US" sz="1575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independientes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desplegados en el mismo Payara Server como WARs separados — Autenticación, Cuentas, Operaciones y Transferencias. Esta separación permite escalar cada servicio de forma independiente.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5105400" y="3844975"/>
            <a:ext cx="12832461" cy="8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clientes implementan un patrón de </a:t>
            </a:r>
            <a:r>
              <a:rPr lang="en-US" sz="1575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intentan conectarse primero a los microservicios y, si no están disponibles, recurren automáticamente al monolítico. Los cuatro clientes son: consola Java (HttpClient + Gson), escritorio JavaFX, web Jakarta EE (Servlets/JSP) y móvil Android/Kotlin (OkHttp + AsyncTask, IP configurable).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5143500" y="9820275"/>
            <a:ext cx="55036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01 INTRODUCCIÓN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A9CC75E4-E984-3437-CCAD-C6E0C9922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20"/>
            <a:ext cx="18252459" cy="3455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24000"/>
            <a:ext cx="10389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90600" y="188595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 General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0600" y="2209800"/>
            <a:ext cx="3314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Objetivos Específicos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3400" y="24860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524125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8479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886075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32099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3248025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33400" y="35718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90600" y="3609975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533400" y="39338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90600" y="3971925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533400" y="42957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90600" y="4333875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33400" y="46577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90600" y="4695825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OBJETIVOS — 2.1 GENERAL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4200" dirty="0"/>
          </a:p>
        </p:txBody>
      </p:sp>
      <p:sp>
        <p:nvSpPr>
          <p:cNvPr id="28" name="Shape 26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5105400" y="1864965"/>
            <a:ext cx="12458700" cy="2039689"/>
          </a:xfrm>
          <a:prstGeom prst="roundRect">
            <a:avLst>
              <a:gd name="adj" fmla="val 2802"/>
            </a:avLst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5562600" y="2284065"/>
            <a:ext cx="11890629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e implementar el sistema bancario </a:t>
            </a:r>
            <a:r>
              <a:rPr lang="en-US" sz="2175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Web Service </a:t>
            </a:r>
            <a:r>
              <a:rPr lang="en-US" sz="2175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en Java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</a:t>
            </a:r>
            <a:r>
              <a:rPr lang="en-US" sz="2175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Server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arquitectura de </a:t>
            </a:r>
            <a:r>
              <a:rPr lang="en-US" sz="2175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base de datos en </a:t>
            </a:r>
            <a:r>
              <a:rPr lang="en-US" sz="2175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permita gestionar operaciones de cuentas de ahorro desde cuatro tipos de clientes.</a:t>
            </a:r>
            <a:endParaRPr lang="en-US" sz="2175" dirty="0"/>
          </a:p>
        </p:txBody>
      </p:sp>
      <p:sp>
        <p:nvSpPr>
          <p:cNvPr id="31" name="Shape 29"/>
          <p:cNvSpPr/>
          <p:nvPr/>
        </p:nvSpPr>
        <p:spPr>
          <a:xfrm>
            <a:off x="5105400" y="4171355"/>
            <a:ext cx="901898" cy="38100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5276850" y="4276130"/>
            <a:ext cx="635198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JAX-RS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02548" y="4171355"/>
            <a:ext cx="1359843" cy="38100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6273998" y="4276130"/>
            <a:ext cx="1093143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57641" y="4171355"/>
            <a:ext cx="1054150" cy="38100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7729091" y="4276130"/>
            <a:ext cx="787450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707041" y="4171355"/>
            <a:ext cx="1410295" cy="381000"/>
          </a:xfrm>
          <a:prstGeom prst="roundRect">
            <a:avLst>
              <a:gd name="adj" fmla="val 50000"/>
            </a:avLst>
          </a:prstGeom>
          <a:ln w="19050">
            <a:solidFill>
              <a:srgbClr val="42955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8878491" y="4276130"/>
            <a:ext cx="1143595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212586" y="4171355"/>
            <a:ext cx="1037630" cy="38100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10384036" y="4276130"/>
            <a:ext cx="770930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clientes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43500" y="9820275"/>
            <a:ext cx="51148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02 OBJETIVOS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7D546D3C-71DC-2405-3F39-024BE58C5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20"/>
            <a:ext cx="18252459" cy="3455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24000"/>
            <a:ext cx="10389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90600" y="1885950"/>
            <a:ext cx="3314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 General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0600" y="2162175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Objetivos Específicos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3400" y="24860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524125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8479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886075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32099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3248025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33400" y="35718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90600" y="3609975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533400" y="39338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90600" y="3971925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533400" y="42957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90600" y="4333875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33400" y="46577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90600" y="4695825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OBJETIVOS — 2.2 ESPECÍFICOS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Específicos</a:t>
            </a:r>
            <a:endParaRPr lang="en-US" sz="4200" dirty="0"/>
          </a:p>
        </p:txBody>
      </p:sp>
      <p:sp>
        <p:nvSpPr>
          <p:cNvPr id="28" name="Shape 26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5105400" y="1922115"/>
            <a:ext cx="6143625" cy="1554807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5105400" y="3467398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5105400" y="1922115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5105400" y="1922115"/>
            <a:ext cx="76200" cy="1554807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11239500" y="1922115"/>
            <a:ext cx="9525" cy="1554807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5391150" y="2103090"/>
            <a:ext cx="62026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5391150" y="2322165"/>
            <a:ext cx="62026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monolítico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5391150" y="2665065"/>
            <a:ext cx="5807964" cy="668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WSEurekaBank_Restfull_Java_G5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CorsFilter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CoreBancarioResource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exponiendo autenticación, movimientos, depósito, retiro y transferencia.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420475" y="1922115"/>
            <a:ext cx="6143625" cy="1554807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11420475" y="3467398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9" name="Shape 37"/>
          <p:cNvSpPr/>
          <p:nvPr/>
        </p:nvSpPr>
        <p:spPr>
          <a:xfrm>
            <a:off x="11420475" y="1922115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Shape 38"/>
          <p:cNvSpPr/>
          <p:nvPr/>
        </p:nvSpPr>
        <p:spPr>
          <a:xfrm>
            <a:off x="11420475" y="1922115"/>
            <a:ext cx="76200" cy="1554807"/>
          </a:xfrm>
          <a:prstGeom prst="rect">
            <a:avLst/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1" name="Shape 39"/>
          <p:cNvSpPr/>
          <p:nvPr/>
        </p:nvSpPr>
        <p:spPr>
          <a:xfrm>
            <a:off x="17554575" y="1922115"/>
            <a:ext cx="9525" cy="1554807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11706225" y="2103090"/>
            <a:ext cx="62026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2.2.2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1706225" y="2322165"/>
            <a:ext cx="62026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microservicios REST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1706225" y="2665065"/>
            <a:ext cx="5807964" cy="45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Autenticación, Cuentas, Operaciones y Transferencias, cada uno con su propio WAR en Payara, compartiendo la BD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eurekabank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AWS RDS.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105400" y="3648373"/>
            <a:ext cx="6143625" cy="1344513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6" name="Shape 44"/>
          <p:cNvSpPr/>
          <p:nvPr/>
        </p:nvSpPr>
        <p:spPr>
          <a:xfrm>
            <a:off x="5105400" y="4983361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7" name="Shape 45"/>
          <p:cNvSpPr/>
          <p:nvPr/>
        </p:nvSpPr>
        <p:spPr>
          <a:xfrm>
            <a:off x="5105400" y="3648373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8" name="Shape 46"/>
          <p:cNvSpPr/>
          <p:nvPr/>
        </p:nvSpPr>
        <p:spPr>
          <a:xfrm>
            <a:off x="5105400" y="3648373"/>
            <a:ext cx="76200" cy="1344513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9" name="Shape 47"/>
          <p:cNvSpPr/>
          <p:nvPr/>
        </p:nvSpPr>
        <p:spPr>
          <a:xfrm>
            <a:off x="11239500" y="3648373"/>
            <a:ext cx="9525" cy="134451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5391150" y="3829348"/>
            <a:ext cx="62026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2.2.3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5391150" y="4048423"/>
            <a:ext cx="62026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AWS RDS</a:t>
            </a:r>
            <a:endParaRPr lang="en-US" sz="1575" dirty="0"/>
          </a:p>
        </p:txBody>
      </p:sp>
      <p:sp>
        <p:nvSpPr>
          <p:cNvPr id="52" name="Text 50"/>
          <p:cNvSpPr/>
          <p:nvPr/>
        </p:nvSpPr>
        <p:spPr>
          <a:xfrm>
            <a:off x="5391150" y="4391323"/>
            <a:ext cx="5807964" cy="45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todos los servidores al endpoint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eureka-bank-mysql...rds.amazonaws.com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vía JDBC con la clase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AccesoDB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1420475" y="3648373"/>
            <a:ext cx="6143625" cy="1344513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4" name="Shape 52"/>
          <p:cNvSpPr/>
          <p:nvPr/>
        </p:nvSpPr>
        <p:spPr>
          <a:xfrm>
            <a:off x="11420475" y="4983361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5" name="Shape 53"/>
          <p:cNvSpPr/>
          <p:nvPr/>
        </p:nvSpPr>
        <p:spPr>
          <a:xfrm>
            <a:off x="11420475" y="3648373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6" name="Shape 54"/>
          <p:cNvSpPr/>
          <p:nvPr/>
        </p:nvSpPr>
        <p:spPr>
          <a:xfrm>
            <a:off x="11420475" y="3648373"/>
            <a:ext cx="76200" cy="1344513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7" name="Shape 55"/>
          <p:cNvSpPr/>
          <p:nvPr/>
        </p:nvSpPr>
        <p:spPr>
          <a:xfrm>
            <a:off x="17554575" y="3648373"/>
            <a:ext cx="9525" cy="134451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8" name="Text 56"/>
          <p:cNvSpPr/>
          <p:nvPr/>
        </p:nvSpPr>
        <p:spPr>
          <a:xfrm>
            <a:off x="11706225" y="3829348"/>
            <a:ext cx="62026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2.2.4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11706225" y="4048423"/>
            <a:ext cx="62026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 Java</a:t>
            </a:r>
            <a:endParaRPr lang="en-US" sz="1575" dirty="0"/>
          </a:p>
        </p:txBody>
      </p:sp>
      <p:sp>
        <p:nvSpPr>
          <p:cNvPr id="60" name="Text 58"/>
          <p:cNvSpPr/>
          <p:nvPr/>
        </p:nvSpPr>
        <p:spPr>
          <a:xfrm>
            <a:off x="11706225" y="4391323"/>
            <a:ext cx="5807964" cy="45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11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HttpClient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Gson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consumiendo microservicios con fallback automático al monolítico.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105400" y="5164336"/>
            <a:ext cx="6143625" cy="1344513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2" name="Shape 60"/>
          <p:cNvSpPr/>
          <p:nvPr/>
        </p:nvSpPr>
        <p:spPr>
          <a:xfrm>
            <a:off x="5105400" y="6499324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3" name="Shape 61"/>
          <p:cNvSpPr/>
          <p:nvPr/>
        </p:nvSpPr>
        <p:spPr>
          <a:xfrm>
            <a:off x="5105400" y="5164336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4" name="Shape 62"/>
          <p:cNvSpPr/>
          <p:nvPr/>
        </p:nvSpPr>
        <p:spPr>
          <a:xfrm>
            <a:off x="5105400" y="5164336"/>
            <a:ext cx="76200" cy="1344513"/>
          </a:xfrm>
          <a:prstGeom prst="rect">
            <a:avLst/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5" name="Shape 63"/>
          <p:cNvSpPr/>
          <p:nvPr/>
        </p:nvSpPr>
        <p:spPr>
          <a:xfrm>
            <a:off x="11239500" y="5164336"/>
            <a:ext cx="9525" cy="134451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6" name="Text 64"/>
          <p:cNvSpPr/>
          <p:nvPr/>
        </p:nvSpPr>
        <p:spPr>
          <a:xfrm>
            <a:off x="5391150" y="5345311"/>
            <a:ext cx="62026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2.2.5</a:t>
            </a:r>
            <a:endParaRPr lang="en-US" sz="975" dirty="0"/>
          </a:p>
        </p:txBody>
      </p:sp>
      <p:sp>
        <p:nvSpPr>
          <p:cNvPr id="67" name="Text 65"/>
          <p:cNvSpPr/>
          <p:nvPr/>
        </p:nvSpPr>
        <p:spPr>
          <a:xfrm>
            <a:off x="5391150" y="5564386"/>
            <a:ext cx="62026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Escritorio + Web</a:t>
            </a:r>
            <a:endParaRPr lang="en-US" sz="1575" dirty="0"/>
          </a:p>
        </p:txBody>
      </p:sp>
      <p:sp>
        <p:nvSpPr>
          <p:cNvPr id="68" name="Text 66"/>
          <p:cNvSpPr/>
          <p:nvPr/>
        </p:nvSpPr>
        <p:spPr>
          <a:xfrm>
            <a:off x="5391150" y="5907286"/>
            <a:ext cx="5807964" cy="45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JavaFX (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LoginView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MenuView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y cliente Jakarta EE con Servlets/JSP (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LoginServlet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DepositoServlet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...).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1420475" y="5164336"/>
            <a:ext cx="6143625" cy="1344513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0" name="Shape 68"/>
          <p:cNvSpPr/>
          <p:nvPr/>
        </p:nvSpPr>
        <p:spPr>
          <a:xfrm>
            <a:off x="11420475" y="6499324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1" name="Shape 69"/>
          <p:cNvSpPr/>
          <p:nvPr/>
        </p:nvSpPr>
        <p:spPr>
          <a:xfrm>
            <a:off x="11420475" y="5164336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2" name="Shape 70"/>
          <p:cNvSpPr/>
          <p:nvPr/>
        </p:nvSpPr>
        <p:spPr>
          <a:xfrm>
            <a:off x="11420475" y="5164336"/>
            <a:ext cx="76200" cy="1344513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3" name="Shape 71"/>
          <p:cNvSpPr/>
          <p:nvPr/>
        </p:nvSpPr>
        <p:spPr>
          <a:xfrm>
            <a:off x="17554575" y="5164336"/>
            <a:ext cx="9525" cy="134451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4" name="Text 72"/>
          <p:cNvSpPr/>
          <p:nvPr/>
        </p:nvSpPr>
        <p:spPr>
          <a:xfrm>
            <a:off x="11706225" y="5345311"/>
            <a:ext cx="62026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2.2.6</a:t>
            </a:r>
            <a:endParaRPr lang="en-US" sz="975" dirty="0"/>
          </a:p>
        </p:txBody>
      </p:sp>
      <p:sp>
        <p:nvSpPr>
          <p:cNvPr id="75" name="Text 73"/>
          <p:cNvSpPr/>
          <p:nvPr/>
        </p:nvSpPr>
        <p:spPr>
          <a:xfrm>
            <a:off x="11706225" y="5564386"/>
            <a:ext cx="62026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 Android</a:t>
            </a:r>
            <a:endParaRPr lang="en-US" sz="1575" dirty="0"/>
          </a:p>
        </p:txBody>
      </p:sp>
      <p:sp>
        <p:nvSpPr>
          <p:cNvPr id="76" name="Text 74"/>
          <p:cNvSpPr/>
          <p:nvPr/>
        </p:nvSpPr>
        <p:spPr>
          <a:xfrm>
            <a:off x="11706225" y="5907286"/>
            <a:ext cx="5807964" cy="45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EurekaRestService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(OkHttp + AsyncTask/RestCallback), IP configurable desde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SharedPreferences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143500" y="9820275"/>
            <a:ext cx="51148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02 OBJETIVOS</a:t>
            </a:r>
            <a:endParaRPr lang="en-US" sz="1125" dirty="0"/>
          </a:p>
        </p:txBody>
      </p:sp>
      <p:sp>
        <p:nvSpPr>
          <p:cNvPr id="78" name="Text 76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75" dirty="0"/>
          </a:p>
        </p:txBody>
      </p:sp>
      <p:sp>
        <p:nvSpPr>
          <p:cNvPr id="79" name="Shape 77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81" name="Imagen 80">
            <a:extLst>
              <a:ext uri="{FF2B5EF4-FFF2-40B4-BE49-F238E27FC236}">
                <a16:creationId xmlns:a16="http://schemas.microsoft.com/office/drawing/2014/main" id="{E425F4B5-220F-6EC4-75D1-253812B66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20"/>
            <a:ext cx="18252459" cy="3455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885950"/>
            <a:ext cx="154334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990600" y="224790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Microservicios REST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0600" y="257175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JAX-RS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3400" y="28956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9337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32575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329565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33400" y="36195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90600" y="3657600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533400" y="39814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90600" y="401955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533400" y="43434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90600" y="438150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33400" y="47053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90600" y="474345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y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JAX-RS</a:t>
            </a:r>
            <a:endParaRPr lang="en-US" sz="4200" dirty="0"/>
          </a:p>
        </p:txBody>
      </p:sp>
      <p:sp>
        <p:nvSpPr>
          <p:cNvPr id="28" name="Shape 26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5105400" y="1922115"/>
            <a:ext cx="6096000" cy="7831485"/>
          </a:xfrm>
          <a:prstGeom prst="roundRect">
            <a:avLst>
              <a:gd name="adj" fmla="val 62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5105400" y="9744075"/>
            <a:ext cx="60960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5105400" y="1922115"/>
            <a:ext cx="60960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5105400" y="1922115"/>
            <a:ext cx="76200" cy="7831485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11191875" y="1922115"/>
            <a:ext cx="9525" cy="783148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5429250" y="2141190"/>
            <a:ext cx="60664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5429250" y="2360265"/>
            <a:ext cx="60664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Microservicios REST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5429250" y="2703165"/>
            <a:ext cx="5680424" cy="108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Descompone la aplicación en servicios pequeños e independientemente desplegables. Las cuatro responsabilidades (autenticación, cuentas, operaciones y transferencias) se separan en cuatro servicios JAX-RS individuales — cada uno con su propio WAR,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JakartaRestConfiguration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AccesoDB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aunque comparten la misma base física en AWS RDS.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468100" y="1922115"/>
            <a:ext cx="6096000" cy="7831485"/>
          </a:xfrm>
          <a:prstGeom prst="roundRect">
            <a:avLst>
              <a:gd name="adj" fmla="val 62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11468100" y="9744075"/>
            <a:ext cx="60960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9" name="Shape 37"/>
          <p:cNvSpPr/>
          <p:nvPr/>
        </p:nvSpPr>
        <p:spPr>
          <a:xfrm>
            <a:off x="11468100" y="1922115"/>
            <a:ext cx="60960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Shape 38"/>
          <p:cNvSpPr/>
          <p:nvPr/>
        </p:nvSpPr>
        <p:spPr>
          <a:xfrm>
            <a:off x="11468100" y="1922115"/>
            <a:ext cx="76200" cy="7831485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1" name="Shape 39"/>
          <p:cNvSpPr/>
          <p:nvPr/>
        </p:nvSpPr>
        <p:spPr>
          <a:xfrm>
            <a:off x="17554575" y="1922115"/>
            <a:ext cx="9525" cy="783148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11791950" y="2141190"/>
            <a:ext cx="60664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1791950" y="2360265"/>
            <a:ext cx="60664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JAX-RS · Jakarta RESTful Web Services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1791950" y="2703165"/>
            <a:ext cx="5680424" cy="108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Anotaciones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@Produces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@Consumes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@PathParam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@QueryParam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 clases Java como recursos REST.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JakartaRestConfiguration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@ApplicationPath("/resources")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define el prefijo base — la ruta de cuentas, operaciones y transferencias es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/resources/corebancario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43500" y="9820275"/>
            <a:ext cx="56565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03 MARCO TEÓRICO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75" dirty="0"/>
          </a:p>
        </p:txBody>
      </p:sp>
      <p:sp>
        <p:nvSpPr>
          <p:cNvPr id="47" name="Shape 4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ACFFBC52-C47F-F35C-AC48-3649130B0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20"/>
            <a:ext cx="18252459" cy="345543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4563FA87-3EF1-3E9E-77B6-4F451EDF4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820"/>
            <a:ext cx="18252459" cy="3455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885950"/>
            <a:ext cx="154334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990600" y="2247900"/>
            <a:ext cx="3314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Microservicios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0600" y="2524125"/>
            <a:ext cx="3314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JAX-RS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600" y="280035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AWS 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0600" y="312420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Patrón Fallback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3400" y="3448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348615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33400" y="3810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90600" y="384810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533400" y="4171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90600" y="4210050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533400" y="4533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90600" y="457200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33400" y="4895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90600" y="493395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33400" y="52578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990600" y="529590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 y el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Fallback</a:t>
            </a:r>
            <a:endParaRPr lang="en-US" sz="4200" dirty="0"/>
          </a:p>
        </p:txBody>
      </p:sp>
      <p:sp>
        <p:nvSpPr>
          <p:cNvPr id="30" name="Shape 28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5105400" y="1922115"/>
            <a:ext cx="6096000" cy="7831485"/>
          </a:xfrm>
          <a:prstGeom prst="roundRect">
            <a:avLst>
              <a:gd name="adj" fmla="val 62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5105400" y="9744075"/>
            <a:ext cx="60960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5105400" y="1922115"/>
            <a:ext cx="60960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5105400" y="1922115"/>
            <a:ext cx="76200" cy="7831485"/>
          </a:xfrm>
          <a:prstGeom prst="rect">
            <a:avLst/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11191875" y="1922115"/>
            <a:ext cx="9525" cy="783148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5429250" y="2141190"/>
            <a:ext cx="60664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5429250" y="2360265"/>
            <a:ext cx="60664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 y persistencia en la nube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5429250" y="2703165"/>
            <a:ext cx="5680424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RDS es el servicio de bases de datos relacionales gestionado de AWS.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AccesoDB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directamente al endpoint público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eureka-bank-mysql...rds.amazonaws.com:3306/eurekabank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vía JDBC, permitiendo que todos los servicios compartan el mismo esquema sin replicación.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1468100" y="1922115"/>
            <a:ext cx="6096000" cy="7831485"/>
          </a:xfrm>
          <a:prstGeom prst="roundRect">
            <a:avLst>
              <a:gd name="adj" fmla="val 62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Shape 38"/>
          <p:cNvSpPr/>
          <p:nvPr/>
        </p:nvSpPr>
        <p:spPr>
          <a:xfrm>
            <a:off x="11468100" y="9744075"/>
            <a:ext cx="60960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1" name="Shape 39"/>
          <p:cNvSpPr/>
          <p:nvPr/>
        </p:nvSpPr>
        <p:spPr>
          <a:xfrm>
            <a:off x="11468100" y="1922115"/>
            <a:ext cx="60960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2" name="Shape 40"/>
          <p:cNvSpPr/>
          <p:nvPr/>
        </p:nvSpPr>
        <p:spPr>
          <a:xfrm>
            <a:off x="11468100" y="1922115"/>
            <a:ext cx="76200" cy="7831485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3" name="Shape 41"/>
          <p:cNvSpPr/>
          <p:nvPr/>
        </p:nvSpPr>
        <p:spPr>
          <a:xfrm>
            <a:off x="17554575" y="1922115"/>
            <a:ext cx="9525" cy="783148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11791950" y="2141190"/>
            <a:ext cx="60664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1791950" y="2360265"/>
            <a:ext cx="60664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Fallback en los clientes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11791950" y="2703165"/>
            <a:ext cx="5680424" cy="108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EurekaService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(Java HttpClient) y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EurekaRestService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(OkHttp Android) intentan primero el microservicio correspondiente; si reciben un error HTTP distinto de 200 o una excepción de conexión, repiten automáticamente la petición contra el monolítico — garantizando continuidad operativa sin cambios en los clientes.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43500" y="9820275"/>
            <a:ext cx="56565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03 MARCO TEÓRICO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780C92C3-8435-BDFD-EA51-F5C3B1186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20"/>
            <a:ext cx="18252459" cy="3455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885950"/>
            <a:ext cx="154334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990600" y="2247900"/>
            <a:ext cx="3314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Java 11 HttpClient/Gson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0600" y="2524125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 JavaFX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600" y="2847975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 OkHttp/AsyncTask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3400" y="31718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90600" y="3209925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533400" y="35337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90600" y="3571875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533400" y="38957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90600" y="3933825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533400" y="42576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90600" y="4295775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533400" y="46196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90600" y="4657725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533400" y="49815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990600" y="5019675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Clientes: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HttpClient, JavaFX y OkHttp</a:t>
            </a:r>
            <a:endParaRPr lang="en-US" sz="4200" dirty="0"/>
          </a:p>
        </p:txBody>
      </p:sp>
      <p:sp>
        <p:nvSpPr>
          <p:cNvPr id="29" name="Shape 27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5105400" y="1922115"/>
            <a:ext cx="4038600" cy="1765102"/>
          </a:xfrm>
          <a:prstGeom prst="roundRect">
            <a:avLst>
              <a:gd name="adj" fmla="val 21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5105400" y="3677692"/>
            <a:ext cx="40386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5105400" y="1922115"/>
            <a:ext cx="40386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5105400" y="1922115"/>
            <a:ext cx="76200" cy="1765102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9134475" y="1922115"/>
            <a:ext cx="9525" cy="1765102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5391150" y="2103090"/>
            <a:ext cx="38871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5391150" y="2322165"/>
            <a:ext cx="3887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11 HttpClient + Gson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5391150" y="2665065"/>
            <a:ext cx="3639788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HttpClient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nativo elimina dependencias externas.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HttpRequest.newBuilder()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la petición;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Gson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serializa/deserializa JSON con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JsonObject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JsonArray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DTOs por respuesta.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315450" y="1922115"/>
            <a:ext cx="4038600" cy="1765102"/>
          </a:xfrm>
          <a:prstGeom prst="roundRect">
            <a:avLst>
              <a:gd name="adj" fmla="val 21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9" name="Shape 37"/>
          <p:cNvSpPr/>
          <p:nvPr/>
        </p:nvSpPr>
        <p:spPr>
          <a:xfrm>
            <a:off x="9315450" y="3677692"/>
            <a:ext cx="40386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Shape 38"/>
          <p:cNvSpPr/>
          <p:nvPr/>
        </p:nvSpPr>
        <p:spPr>
          <a:xfrm>
            <a:off x="9315450" y="1922115"/>
            <a:ext cx="40386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1" name="Shape 39"/>
          <p:cNvSpPr/>
          <p:nvPr/>
        </p:nvSpPr>
        <p:spPr>
          <a:xfrm>
            <a:off x="9315450" y="1922115"/>
            <a:ext cx="76200" cy="1765102"/>
          </a:xfrm>
          <a:prstGeom prst="rect">
            <a:avLst/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2" name="Shape 40"/>
          <p:cNvSpPr/>
          <p:nvPr/>
        </p:nvSpPr>
        <p:spPr>
          <a:xfrm>
            <a:off x="13344525" y="1922115"/>
            <a:ext cx="9525" cy="1765102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9601200" y="2103090"/>
            <a:ext cx="38871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9601200" y="2322165"/>
            <a:ext cx="3887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JavaFX — cliente de escritorio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9601200" y="2665065"/>
            <a:ext cx="3639788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Sucesor moderno de Swing. API de Scene Graph: cada pantalla es un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Vistas construidas programáticamente; paletas de color como constantes CSS aplicadas con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setStyle()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3525500" y="1922115"/>
            <a:ext cx="4038600" cy="1765102"/>
          </a:xfrm>
          <a:prstGeom prst="roundRect">
            <a:avLst>
              <a:gd name="adj" fmla="val 21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7" name="Shape 45"/>
          <p:cNvSpPr/>
          <p:nvPr/>
        </p:nvSpPr>
        <p:spPr>
          <a:xfrm>
            <a:off x="13525500" y="3677692"/>
            <a:ext cx="40386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8" name="Shape 46"/>
          <p:cNvSpPr/>
          <p:nvPr/>
        </p:nvSpPr>
        <p:spPr>
          <a:xfrm>
            <a:off x="13525500" y="1922115"/>
            <a:ext cx="40386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9" name="Shape 47"/>
          <p:cNvSpPr/>
          <p:nvPr/>
        </p:nvSpPr>
        <p:spPr>
          <a:xfrm>
            <a:off x="13525500" y="1922115"/>
            <a:ext cx="76200" cy="1765102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0" name="Shape 48"/>
          <p:cNvSpPr/>
          <p:nvPr/>
        </p:nvSpPr>
        <p:spPr>
          <a:xfrm>
            <a:off x="17554575" y="1922115"/>
            <a:ext cx="9525" cy="1765102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1" name="Text 49"/>
          <p:cNvSpPr/>
          <p:nvPr/>
        </p:nvSpPr>
        <p:spPr>
          <a:xfrm>
            <a:off x="13811250" y="2103090"/>
            <a:ext cx="38871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13811250" y="2322165"/>
            <a:ext cx="3887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OkHttp + AsyncTask (Android)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13811250" y="2665065"/>
            <a:ext cx="3639788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operación se implementa como clase interna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AsyncTask&lt;String,Void,T&gt;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doInBackground()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hilo IO, callback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RestCallback&lt;T&gt;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onPostExecute()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(hilo UI).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143500" y="9820275"/>
            <a:ext cx="56565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03 MARCO TEÓRICO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75" dirty="0"/>
          </a:p>
        </p:txBody>
      </p:sp>
      <p:sp>
        <p:nvSpPr>
          <p:cNvPr id="56" name="Shape 54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47900"/>
            <a:ext cx="154811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990600" y="260985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Conexión AWS 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0600" y="293370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Esquema de Tablas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3400" y="32575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329565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33400" y="36195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90600" y="3657600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533400" y="39814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90600" y="401955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533400" y="43434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90600" y="438150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33400" y="47053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90600" y="474345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BASE DE DATOS — eurekabank en AWS RDS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en AWS RDS</a:t>
            </a:r>
            <a:endParaRPr lang="en-US" sz="4200" dirty="0"/>
          </a:p>
        </p:txBody>
      </p:sp>
      <p:sp>
        <p:nvSpPr>
          <p:cNvPr id="28" name="Shape 26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5105400" y="1979265"/>
            <a:ext cx="1401663" cy="414338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5105400" y="2384078"/>
            <a:ext cx="1401663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5219700" y="2074515"/>
            <a:ext cx="124926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07063" y="1979265"/>
            <a:ext cx="1992511" cy="414338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6507063" y="2384078"/>
            <a:ext cx="199251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6621363" y="2074515"/>
            <a:ext cx="184011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 clave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99574" y="1979265"/>
            <a:ext cx="2701826" cy="414338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8499574" y="2384078"/>
            <a:ext cx="2701826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8613874" y="2074515"/>
            <a:ext cx="255428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05400" y="2927003"/>
            <a:ext cx="1401663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5219700" y="2488853"/>
            <a:ext cx="12492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Empleado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07063" y="2927003"/>
            <a:ext cx="199251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1" name="Text 39"/>
          <p:cNvSpPr/>
          <p:nvPr/>
        </p:nvSpPr>
        <p:spPr>
          <a:xfrm>
            <a:off x="6621363" y="2488853"/>
            <a:ext cx="18401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chr_emplcodigo, vch_emplcargo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499574" y="2927003"/>
            <a:ext cx="2701826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8613874" y="2488853"/>
            <a:ext cx="2554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 del banco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105400" y="2936528"/>
            <a:ext cx="6096000" cy="542925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5" name="Shape 43"/>
          <p:cNvSpPr/>
          <p:nvPr/>
        </p:nvSpPr>
        <p:spPr>
          <a:xfrm>
            <a:off x="5105400" y="3469928"/>
            <a:ext cx="1401663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5219700" y="3031778"/>
            <a:ext cx="12492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507063" y="3469928"/>
            <a:ext cx="199251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8" name="Text 46"/>
          <p:cNvSpPr/>
          <p:nvPr/>
        </p:nvSpPr>
        <p:spPr>
          <a:xfrm>
            <a:off x="6621363" y="3031778"/>
            <a:ext cx="18401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vch_emplusuario, vch_emplclave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499574" y="3469928"/>
            <a:ext cx="2701826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8613874" y="3031778"/>
            <a:ext cx="2554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(texto o SHA-1)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105400" y="4012853"/>
            <a:ext cx="1401663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2" name="Text 50"/>
          <p:cNvSpPr/>
          <p:nvPr/>
        </p:nvSpPr>
        <p:spPr>
          <a:xfrm>
            <a:off x="5219700" y="3574703"/>
            <a:ext cx="12492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507063" y="4012853"/>
            <a:ext cx="199251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4" name="Text 52"/>
          <p:cNvSpPr/>
          <p:nvPr/>
        </p:nvSpPr>
        <p:spPr>
          <a:xfrm>
            <a:off x="6621363" y="3574703"/>
            <a:ext cx="18401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chr_clicodigo, vch_clinombre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499574" y="4012853"/>
            <a:ext cx="2701826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6" name="Text 54"/>
          <p:cNvSpPr/>
          <p:nvPr/>
        </p:nvSpPr>
        <p:spPr>
          <a:xfrm>
            <a:off x="8613874" y="3574703"/>
            <a:ext cx="2554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Titulares de cuentas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105400" y="4022378"/>
            <a:ext cx="6096000" cy="542925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8" name="Shape 56"/>
          <p:cNvSpPr/>
          <p:nvPr/>
        </p:nvSpPr>
        <p:spPr>
          <a:xfrm>
            <a:off x="5105400" y="4555778"/>
            <a:ext cx="1401663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9" name="Text 57"/>
          <p:cNvSpPr/>
          <p:nvPr/>
        </p:nvSpPr>
        <p:spPr>
          <a:xfrm>
            <a:off x="5219700" y="4117628"/>
            <a:ext cx="12492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507063" y="4555778"/>
            <a:ext cx="199251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1" name="Text 59"/>
          <p:cNvSpPr/>
          <p:nvPr/>
        </p:nvSpPr>
        <p:spPr>
          <a:xfrm>
            <a:off x="6621363" y="4117628"/>
            <a:ext cx="18401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dec_cuensaldo, int_cuencontmov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499574" y="4555778"/>
            <a:ext cx="2701826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3" name="Text 61"/>
          <p:cNvSpPr/>
          <p:nvPr/>
        </p:nvSpPr>
        <p:spPr>
          <a:xfrm>
            <a:off x="8613874" y="4117628"/>
            <a:ext cx="2554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de ahorro con saldo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105400" y="5098703"/>
            <a:ext cx="1401663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5" name="Text 63"/>
          <p:cNvSpPr/>
          <p:nvPr/>
        </p:nvSpPr>
        <p:spPr>
          <a:xfrm>
            <a:off x="5219700" y="4660553"/>
            <a:ext cx="12492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TipoMovimiento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507063" y="5098703"/>
            <a:ext cx="199251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7" name="Text 65"/>
          <p:cNvSpPr/>
          <p:nvPr/>
        </p:nvSpPr>
        <p:spPr>
          <a:xfrm>
            <a:off x="6621363" y="4660553"/>
            <a:ext cx="18401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vch_tipoaccion (ING/EGR)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499574" y="5098703"/>
            <a:ext cx="2701826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9" name="Text 67"/>
          <p:cNvSpPr/>
          <p:nvPr/>
        </p:nvSpPr>
        <p:spPr>
          <a:xfrm>
            <a:off x="8613874" y="4660553"/>
            <a:ext cx="2554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Catálogo: 003=Depósito, 004=Retiro, 008/009=Transf.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105400" y="5108228"/>
            <a:ext cx="6096000" cy="542925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1" name="Shape 69"/>
          <p:cNvSpPr/>
          <p:nvPr/>
        </p:nvSpPr>
        <p:spPr>
          <a:xfrm>
            <a:off x="5105400" y="5641628"/>
            <a:ext cx="1401663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2" name="Text 70"/>
          <p:cNvSpPr/>
          <p:nvPr/>
        </p:nvSpPr>
        <p:spPr>
          <a:xfrm>
            <a:off x="5219700" y="5203478"/>
            <a:ext cx="12492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Movimiento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507063" y="5641628"/>
            <a:ext cx="199251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4" name="Text 72"/>
          <p:cNvSpPr/>
          <p:nvPr/>
        </p:nvSpPr>
        <p:spPr>
          <a:xfrm>
            <a:off x="6621363" y="5203478"/>
            <a:ext cx="18401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dtt_movifecha, dec_moviimporte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499574" y="5641628"/>
            <a:ext cx="2701826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6" name="Text 74"/>
          <p:cNvSpPr/>
          <p:nvPr/>
        </p:nvSpPr>
        <p:spPr>
          <a:xfrm>
            <a:off x="8613874" y="5203478"/>
            <a:ext cx="2554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movimientos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105400" y="5655915"/>
            <a:ext cx="6705600" cy="33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1 · Tablas principales del esquema </a:t>
            </a:r>
            <a:r>
              <a:rPr lang="en-US" sz="1575" i="1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eurekabank</a:t>
            </a: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75" dirty="0"/>
          </a:p>
        </p:txBody>
      </p:sp>
      <p:sp>
        <p:nvSpPr>
          <p:cNvPr id="78" name="Text 76"/>
          <p:cNvSpPr/>
          <p:nvPr/>
        </p:nvSpPr>
        <p:spPr>
          <a:xfrm>
            <a:off x="11468100" y="9336286"/>
            <a:ext cx="6705600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 · Modelo entidad-relación de la base de datos eurekabank.</a:t>
            </a:r>
            <a:endParaRPr lang="en-US" sz="1575" dirty="0"/>
          </a:p>
        </p:txBody>
      </p:sp>
      <p:sp>
        <p:nvSpPr>
          <p:cNvPr id="79" name="Text 77"/>
          <p:cNvSpPr/>
          <p:nvPr/>
        </p:nvSpPr>
        <p:spPr>
          <a:xfrm>
            <a:off x="5143500" y="9820275"/>
            <a:ext cx="55812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04 BASE DE DATOS</a:t>
            </a:r>
            <a:endParaRPr lang="en-US" sz="1125" dirty="0"/>
          </a:p>
        </p:txBody>
      </p:sp>
      <p:sp>
        <p:nvSpPr>
          <p:cNvPr id="80" name="Text 78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75" dirty="0"/>
          </a:p>
        </p:txBody>
      </p:sp>
      <p:sp>
        <p:nvSpPr>
          <p:cNvPr id="81" name="Shape 7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83" name="Imagen 82">
            <a:extLst>
              <a:ext uri="{FF2B5EF4-FFF2-40B4-BE49-F238E27FC236}">
                <a16:creationId xmlns:a16="http://schemas.microsoft.com/office/drawing/2014/main" id="{E7C57F54-5085-55B1-A536-CDF60DB2B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0"/>
            <a:ext cx="18252459" cy="345543"/>
          </a:xfrm>
          <a:prstGeom prst="rect">
            <a:avLst/>
          </a:prstGeom>
        </p:spPr>
      </p:pic>
      <p:pic>
        <p:nvPicPr>
          <p:cNvPr id="85" name="Imagen 84">
            <a:extLst>
              <a:ext uri="{FF2B5EF4-FFF2-40B4-BE49-F238E27FC236}">
                <a16:creationId xmlns:a16="http://schemas.microsoft.com/office/drawing/2014/main" id="{3DC6A11A-D97D-B8D9-CFD5-48DD99D2C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20"/>
            <a:ext cx="18252459" cy="345543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55BD93E8-D6B7-9FB8-8146-2F6E7B3DE0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733" y="6180410"/>
            <a:ext cx="7133629" cy="2861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09850"/>
            <a:ext cx="17927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90600" y="297180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Servidor Monolítico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3400" y="32956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90600" y="3333750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533400" y="36576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90600" y="369570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533400" y="40195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90600" y="405765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533400" y="43815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90600" y="441960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SERVIDORES REST — 5.1 MONOLÍTICO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WSEurekaBank_Restfull_Java_G5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5105400" y="1922115"/>
            <a:ext cx="6096000" cy="2876550"/>
          </a:xfrm>
          <a:prstGeom prst="roundRect">
            <a:avLst>
              <a:gd name="adj" fmla="val 2649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5295900" y="2074515"/>
            <a:ext cx="5897880" cy="2609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WSEurekaBank_Restfull_Java_G5/ </a:t>
            </a: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src/main/java/ec/edu/monster/</a:t>
            </a:r>
            <a:endParaRPr lang="en-US" sz="1125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wseurekabank_restfull_java_g5/</a:t>
            </a:r>
            <a:endParaRPr lang="en-US" sz="1125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JakartaRestConfiguration.java  </a:t>
            </a:r>
            <a:endParaRPr lang="en-US" sz="1125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@ApplicationPath </a:t>
            </a: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filter/</a:t>
            </a:r>
            <a:endParaRPr lang="en-US" sz="1125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CorsFilter.java                </a:t>
            </a:r>
            <a:endParaRPr lang="en-US" sz="1125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CORS headers </a:t>
            </a: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db/</a:t>
            </a:r>
            <a:endParaRPr lang="en-US" sz="1125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AccesoDB.java                  </a:t>
            </a:r>
            <a:endParaRPr lang="en-US" sz="1125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JDBC → AWS RDS </a:t>
            </a: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modelo/Movimiento.java</a:t>
            </a:r>
            <a:endParaRPr lang="en-US" sz="1125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servicio/EurekaService.java</a:t>
            </a:r>
            <a:endParaRPr lang="en-US" sz="1125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ws/</a:t>
            </a:r>
            <a:endParaRPr lang="en-US" sz="1125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CoreBancarioResource.java      </a:t>
            </a:r>
            <a:endParaRPr lang="en-US" sz="1125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@Path("corebancario")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5105400" y="4932015"/>
            <a:ext cx="6278880" cy="899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hospeda en Payara Server; concentra todos los endpoints bancarios en </a:t>
            </a:r>
            <a:r>
              <a:rPr lang="en-US" sz="1575" i="1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CoreBancarioResource</a:t>
            </a: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</a:t>
            </a:r>
            <a:r>
              <a:rPr lang="en-US" sz="1575" i="1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CorsFilter </a:t>
            </a: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habilitando peticiones cross-origin.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1468100" y="9336286"/>
            <a:ext cx="6705600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2 · Creación del proyecto servidor monolítico en NetBeans.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5143500" y="9820275"/>
            <a:ext cx="530701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5.1 MONOLÍTICO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98FA3310-339B-48BC-E756-F372D125F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0"/>
            <a:ext cx="18252459" cy="34554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8EC41BB-14CC-E25B-28FA-D1DBEAADB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0050" y="6414120"/>
            <a:ext cx="5158680" cy="2579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09850"/>
            <a:ext cx="17927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90600" y="297180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Servidor Monolítico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3400" y="32956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90600" y="3333750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533400" y="36576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90600" y="369570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533400" y="40195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90600" y="405765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533400" y="43815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90600" y="441960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SERVIDORES REST — 5.1 MONOLÍTICO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CoreBancarioResource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5105400" y="1979265"/>
            <a:ext cx="933450" cy="414338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5105400" y="2384078"/>
            <a:ext cx="9334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5219700" y="2074515"/>
            <a:ext cx="7810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8850" y="1979265"/>
            <a:ext cx="3077468" cy="414338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6038850" y="2384078"/>
            <a:ext cx="3077468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6153150" y="2074515"/>
            <a:ext cx="294119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16318" y="1979265"/>
            <a:ext cx="2085082" cy="414338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9116318" y="2384078"/>
            <a:ext cx="208508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9230618" y="2074515"/>
            <a:ext cx="193268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05400" y="2927003"/>
            <a:ext cx="9334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5219700" y="2488853"/>
            <a:ext cx="781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38850" y="2927003"/>
            <a:ext cx="3077468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6153150" y="2488853"/>
            <a:ext cx="29411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/corebancario/login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116318" y="2927003"/>
            <a:ext cx="208508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9230618" y="2488853"/>
            <a:ext cx="19326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— {estado:1} si OK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105400" y="2936528"/>
            <a:ext cx="6096000" cy="419100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4" name="Shape 42"/>
          <p:cNvSpPr/>
          <p:nvPr/>
        </p:nvSpPr>
        <p:spPr>
          <a:xfrm>
            <a:off x="5105400" y="3346103"/>
            <a:ext cx="9334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5" name="Text 43"/>
          <p:cNvSpPr/>
          <p:nvPr/>
        </p:nvSpPr>
        <p:spPr>
          <a:xfrm>
            <a:off x="5219700" y="3031778"/>
            <a:ext cx="7810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038850" y="3346103"/>
            <a:ext cx="3077468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7" name="Text 45"/>
          <p:cNvSpPr/>
          <p:nvPr/>
        </p:nvSpPr>
        <p:spPr>
          <a:xfrm>
            <a:off x="6153150" y="3031778"/>
            <a:ext cx="29411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/corebancario/movimientos/{cuenta}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116318" y="3346103"/>
            <a:ext cx="208508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9230618" y="3031778"/>
            <a:ext cx="19326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movimientos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105400" y="3889028"/>
            <a:ext cx="9334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1" name="Text 49"/>
          <p:cNvSpPr/>
          <p:nvPr/>
        </p:nvSpPr>
        <p:spPr>
          <a:xfrm>
            <a:off x="5219700" y="3450878"/>
            <a:ext cx="781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38850" y="3889028"/>
            <a:ext cx="3077468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3" name="Text 51"/>
          <p:cNvSpPr/>
          <p:nvPr/>
        </p:nvSpPr>
        <p:spPr>
          <a:xfrm>
            <a:off x="6153150" y="3450878"/>
            <a:ext cx="29411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/corebancario/deposito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116318" y="3889028"/>
            <a:ext cx="208508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5" name="Text 53"/>
          <p:cNvSpPr/>
          <p:nvPr/>
        </p:nvSpPr>
        <p:spPr>
          <a:xfrm>
            <a:off x="9230618" y="3450878"/>
            <a:ext cx="19326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depósito (tipo 003)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105400" y="3898553"/>
            <a:ext cx="6096000" cy="419100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7" name="Shape 55"/>
          <p:cNvSpPr/>
          <p:nvPr/>
        </p:nvSpPr>
        <p:spPr>
          <a:xfrm>
            <a:off x="5105400" y="4308128"/>
            <a:ext cx="9334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8" name="Text 56"/>
          <p:cNvSpPr/>
          <p:nvPr/>
        </p:nvSpPr>
        <p:spPr>
          <a:xfrm>
            <a:off x="5219700" y="3993803"/>
            <a:ext cx="7810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038850" y="4308128"/>
            <a:ext cx="3077468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0" name="Text 58"/>
          <p:cNvSpPr/>
          <p:nvPr/>
        </p:nvSpPr>
        <p:spPr>
          <a:xfrm>
            <a:off x="6153150" y="3993803"/>
            <a:ext cx="29411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/corebancario/retiro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116318" y="4308128"/>
            <a:ext cx="208508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2" name="Text 60"/>
          <p:cNvSpPr/>
          <p:nvPr/>
        </p:nvSpPr>
        <p:spPr>
          <a:xfrm>
            <a:off x="9230618" y="3993803"/>
            <a:ext cx="19326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retiro (tipo 004)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105400" y="4851053"/>
            <a:ext cx="9334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4" name="Text 62"/>
          <p:cNvSpPr/>
          <p:nvPr/>
        </p:nvSpPr>
        <p:spPr>
          <a:xfrm>
            <a:off x="5219700" y="4412903"/>
            <a:ext cx="781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038850" y="4851053"/>
            <a:ext cx="3077468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6" name="Text 64"/>
          <p:cNvSpPr/>
          <p:nvPr/>
        </p:nvSpPr>
        <p:spPr>
          <a:xfrm>
            <a:off x="6153150" y="4412903"/>
            <a:ext cx="29411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/corebancario/transferencia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116318" y="4851053"/>
            <a:ext cx="208508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8" name="Text 66"/>
          <p:cNvSpPr/>
          <p:nvPr/>
        </p:nvSpPr>
        <p:spPr>
          <a:xfrm>
            <a:off x="9230618" y="4412903"/>
            <a:ext cx="19326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Retiro origen + depósito destino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105400" y="4865340"/>
            <a:ext cx="6705600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2 · Endpoints del servidor monolítico CoreBancarioResource.</a:t>
            </a:r>
            <a:endParaRPr lang="en-US" sz="1575" dirty="0"/>
          </a:p>
        </p:txBody>
      </p:sp>
      <p:sp>
        <p:nvSpPr>
          <p:cNvPr id="70" name="Shape 68"/>
          <p:cNvSpPr/>
          <p:nvPr/>
        </p:nvSpPr>
        <p:spPr>
          <a:xfrm>
            <a:off x="5105400" y="5282654"/>
            <a:ext cx="6096000" cy="915888"/>
          </a:xfrm>
          <a:prstGeom prst="roundRect">
            <a:avLst>
              <a:gd name="adj" fmla="val 416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1" name="Shape 69"/>
          <p:cNvSpPr/>
          <p:nvPr/>
        </p:nvSpPr>
        <p:spPr>
          <a:xfrm>
            <a:off x="5105400" y="6189018"/>
            <a:ext cx="60960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2" name="Shape 70"/>
          <p:cNvSpPr/>
          <p:nvPr/>
        </p:nvSpPr>
        <p:spPr>
          <a:xfrm>
            <a:off x="5105400" y="5282654"/>
            <a:ext cx="60960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3" name="Shape 71"/>
          <p:cNvSpPr/>
          <p:nvPr/>
        </p:nvSpPr>
        <p:spPr>
          <a:xfrm>
            <a:off x="5105400" y="5282654"/>
            <a:ext cx="76200" cy="915888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4" name="Shape 72"/>
          <p:cNvSpPr/>
          <p:nvPr/>
        </p:nvSpPr>
        <p:spPr>
          <a:xfrm>
            <a:off x="11191875" y="5282654"/>
            <a:ext cx="9525" cy="915888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5" name="Text 73"/>
          <p:cNvSpPr/>
          <p:nvPr/>
        </p:nvSpPr>
        <p:spPr>
          <a:xfrm>
            <a:off x="5372100" y="5444579"/>
            <a:ext cx="619220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975" dirty="0"/>
          </a:p>
        </p:txBody>
      </p:sp>
      <p:sp>
        <p:nvSpPr>
          <p:cNvPr id="76" name="Text 74"/>
          <p:cNvSpPr/>
          <p:nvPr/>
        </p:nvSpPr>
        <p:spPr>
          <a:xfrm>
            <a:off x="5372100" y="5616029"/>
            <a:ext cx="5798153" cy="45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asadmin deploy target\WSEurekaBank_Restfull_Java_G5-1.0-SNAPSHOT.war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1468100" y="9052322"/>
            <a:ext cx="6278880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3 · Servidor monolítico desplegado en Payara y respuesta JSON en Postman.</a:t>
            </a:r>
            <a:endParaRPr lang="en-US" sz="1575" dirty="0"/>
          </a:p>
        </p:txBody>
      </p:sp>
      <p:sp>
        <p:nvSpPr>
          <p:cNvPr id="78" name="Text 76"/>
          <p:cNvSpPr/>
          <p:nvPr/>
        </p:nvSpPr>
        <p:spPr>
          <a:xfrm>
            <a:off x="5143500" y="9820275"/>
            <a:ext cx="530701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5.1 MONOLÍTICO</a:t>
            </a:r>
            <a:endParaRPr lang="en-US" sz="1125" dirty="0"/>
          </a:p>
        </p:txBody>
      </p:sp>
      <p:sp>
        <p:nvSpPr>
          <p:cNvPr id="79" name="Text 77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75" dirty="0"/>
          </a:p>
        </p:txBody>
      </p:sp>
      <p:sp>
        <p:nvSpPr>
          <p:cNvPr id="80" name="Shape 7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E6EC3FFE-0201-0F62-DE01-E048383DB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240" y="3990429"/>
            <a:ext cx="3581400" cy="6858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9BD3F06-1BAA-5B3A-8C51-101B8298C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2255" y="4901208"/>
            <a:ext cx="532892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09850"/>
            <a:ext cx="17927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90600" y="2971800"/>
            <a:ext cx="30746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Microservicios Independientes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3400" y="35147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90600" y="3552825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533400" y="38766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90600" y="3914775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533400" y="42386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90600" y="4276725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533400" y="46005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90600" y="4638675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SERVIDORES REST — 5.2 MICROSERVICIOS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 independientes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5105400" y="1979265"/>
            <a:ext cx="2057102" cy="633413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5105400" y="2603153"/>
            <a:ext cx="205710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5219700" y="2074515"/>
            <a:ext cx="190470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 (WAR)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62502" y="1979265"/>
            <a:ext cx="1883122" cy="633413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7162502" y="2603153"/>
            <a:ext cx="188312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7276802" y="2074515"/>
            <a:ext cx="173072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 JAX-RS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45625" y="1979265"/>
            <a:ext cx="2155775" cy="633413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9045625" y="2603153"/>
            <a:ext cx="21557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9159925" y="2074515"/>
            <a:ext cx="200337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base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05400" y="2984153"/>
            <a:ext cx="205710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5219700" y="2707928"/>
            <a:ext cx="19047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Autenticacion_Rest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62502" y="2984153"/>
            <a:ext cx="188312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7276802" y="2707928"/>
            <a:ext cx="173072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AutenticacionResource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45625" y="2984153"/>
            <a:ext cx="21557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9159925" y="2707928"/>
            <a:ext cx="20033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resources/autenticacion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105400" y="2993678"/>
            <a:ext cx="6096000" cy="381000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4" name="Shape 42"/>
          <p:cNvSpPr/>
          <p:nvPr/>
        </p:nvSpPr>
        <p:spPr>
          <a:xfrm>
            <a:off x="5105400" y="3365153"/>
            <a:ext cx="205710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5" name="Text 43"/>
          <p:cNvSpPr/>
          <p:nvPr/>
        </p:nvSpPr>
        <p:spPr>
          <a:xfrm>
            <a:off x="5219700" y="3088928"/>
            <a:ext cx="19047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Cuentas_Rest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162502" y="3365153"/>
            <a:ext cx="188312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7" name="Text 45"/>
          <p:cNvSpPr/>
          <p:nvPr/>
        </p:nvSpPr>
        <p:spPr>
          <a:xfrm>
            <a:off x="7276802" y="3088928"/>
            <a:ext cx="173072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CuentasResource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045625" y="3365153"/>
            <a:ext cx="21557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9159925" y="3088928"/>
            <a:ext cx="20033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resources/corebancario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105400" y="3746153"/>
            <a:ext cx="205710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1" name="Text 49"/>
          <p:cNvSpPr/>
          <p:nvPr/>
        </p:nvSpPr>
        <p:spPr>
          <a:xfrm>
            <a:off x="5219700" y="3469928"/>
            <a:ext cx="19047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Operaciones_Rest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162502" y="3746153"/>
            <a:ext cx="188312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3" name="Text 51"/>
          <p:cNvSpPr/>
          <p:nvPr/>
        </p:nvSpPr>
        <p:spPr>
          <a:xfrm>
            <a:off x="7276802" y="3469928"/>
            <a:ext cx="173072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OperacionesResource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045625" y="3746153"/>
            <a:ext cx="21557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5" name="Text 53"/>
          <p:cNvSpPr/>
          <p:nvPr/>
        </p:nvSpPr>
        <p:spPr>
          <a:xfrm>
            <a:off x="9159925" y="3469928"/>
            <a:ext cx="20033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resources/corebancario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105400" y="3755678"/>
            <a:ext cx="6096000" cy="381000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7" name="Shape 55"/>
          <p:cNvSpPr/>
          <p:nvPr/>
        </p:nvSpPr>
        <p:spPr>
          <a:xfrm>
            <a:off x="5105400" y="4127153"/>
            <a:ext cx="205710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8" name="Text 56"/>
          <p:cNvSpPr/>
          <p:nvPr/>
        </p:nvSpPr>
        <p:spPr>
          <a:xfrm>
            <a:off x="5219700" y="3850928"/>
            <a:ext cx="19047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Transferencias_Rest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162502" y="4127153"/>
            <a:ext cx="1883122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0" name="Text 58"/>
          <p:cNvSpPr/>
          <p:nvPr/>
        </p:nvSpPr>
        <p:spPr>
          <a:xfrm>
            <a:off x="7276802" y="3850928"/>
            <a:ext cx="173072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TransferenciasResource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045625" y="4127153"/>
            <a:ext cx="21557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2" name="Text 60"/>
          <p:cNvSpPr/>
          <p:nvPr/>
        </p:nvSpPr>
        <p:spPr>
          <a:xfrm>
            <a:off x="9159925" y="3850928"/>
            <a:ext cx="20033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resources/corebancario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105400" y="4141440"/>
            <a:ext cx="6278880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3 · Microservicios REST de EurekaBank — cada uno con su propio WAR desplegado en Payara.</a:t>
            </a:r>
            <a:endParaRPr lang="en-US" sz="1575" dirty="0"/>
          </a:p>
        </p:txBody>
      </p:sp>
      <p:sp>
        <p:nvSpPr>
          <p:cNvPr id="64" name="Shape 62"/>
          <p:cNvSpPr/>
          <p:nvPr/>
        </p:nvSpPr>
        <p:spPr>
          <a:xfrm>
            <a:off x="5105400" y="4842718"/>
            <a:ext cx="7467600" cy="1276052"/>
          </a:xfrm>
          <a:prstGeom prst="roundRect">
            <a:avLst>
              <a:gd name="adj" fmla="val 597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5" name="Text 63"/>
          <p:cNvSpPr/>
          <p:nvPr/>
        </p:nvSpPr>
        <p:spPr>
          <a:xfrm>
            <a:off x="5314950" y="5014168"/>
            <a:ext cx="5859780" cy="9712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desplegar los 4 microservicios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asadmin deploy WSEurekaBank_Autenticacion_Rest.war</a:t>
            </a:r>
            <a:endParaRPr lang="en-US" sz="1050" dirty="0"/>
          </a:p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asadmin deploy WSEurekaBank_Cuentas_Rest.war</a:t>
            </a:r>
            <a:endParaRPr lang="en-US" sz="1050" dirty="0"/>
          </a:p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asadmin deploy WSEurekaBank_Operaciones_Rest.war</a:t>
            </a:r>
            <a:endParaRPr lang="en-US" sz="1050" dirty="0"/>
          </a:p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asadmin deploy WSEurekaBank_Transferencias_Rest.war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1468100" y="9052322"/>
            <a:ext cx="6278880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4 · Los 5 WARs desplegados en la consola de administración de Payara.</a:t>
            </a:r>
            <a:endParaRPr lang="en-US" sz="1575" dirty="0"/>
          </a:p>
        </p:txBody>
      </p:sp>
      <p:sp>
        <p:nvSpPr>
          <p:cNvPr id="67" name="Text 65"/>
          <p:cNvSpPr/>
          <p:nvPr/>
        </p:nvSpPr>
        <p:spPr>
          <a:xfrm>
            <a:off x="5143500" y="9820275"/>
            <a:ext cx="576786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5.2 MICROSERVICIOS</a:t>
            </a:r>
            <a:endParaRPr lang="en-US" sz="1125" dirty="0"/>
          </a:p>
        </p:txBody>
      </p:sp>
      <p:sp>
        <p:nvSpPr>
          <p:cNvPr id="68" name="Text 66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75" dirty="0"/>
          </a:p>
        </p:txBody>
      </p:sp>
      <p:sp>
        <p:nvSpPr>
          <p:cNvPr id="69" name="Shape 67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63B60466-CE53-F3DB-896A-0F7DDBF98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8740" y="7196137"/>
            <a:ext cx="36576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09850"/>
            <a:ext cx="17927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90600" y="2971800"/>
            <a:ext cx="30746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Microservicios Independientes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3400" y="35147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90600" y="3552825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533400" y="38766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90600" y="3914775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533400" y="423862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90600" y="4276725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533400" y="4600575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90600" y="4638675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SERVIDORES REST — 5.2 MICROSERVICIOS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y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ACID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5105400" y="1922115"/>
            <a:ext cx="10833100" cy="1943100"/>
          </a:xfrm>
          <a:prstGeom prst="roundRect">
            <a:avLst>
              <a:gd name="adj" fmla="val 392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5314950" y="2093565"/>
            <a:ext cx="5859780" cy="163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AutenticacionResource — usuario por defecto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"MONSTER"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.equalsIgnoreCase(usuario)</a:t>
            </a:r>
            <a:endParaRPr lang="en-US" sz="1125" dirty="0"/>
          </a:p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 </a:t>
            </a:r>
            <a:endParaRPr lang="en-US" sz="1125" dirty="0"/>
          </a:p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"MONSTER9"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.equals(clave)) {</a:t>
            </a:r>
            <a:endParaRPr lang="en-US" sz="1125" dirty="0"/>
          </a:p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Response.ok(</a:t>
            </a: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"{estado:1,...}"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).build();</a:t>
            </a:r>
            <a:endParaRPr lang="en-US" sz="1125" dirty="0"/>
          </a:p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endParaRPr lang="en-US" sz="1125" dirty="0"/>
          </a:p>
          <a:p>
            <a:pPr marL="0" indent="0" algn="l">
              <a:lnSpc>
                <a:spcPct val="116667"/>
              </a:lnSpc>
              <a:buNone/>
            </a:pPr>
            <a:r>
              <a:rPr lang="en-US" sz="1125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 no, valida en BD: clave texto o SHA-1 </a:t>
            </a: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... WHERE u.vch_emplusuario = ? AND  (u.vch_emplclave = ? OR u.vch_emplclave = ?)"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5143500" y="5234856"/>
            <a:ext cx="12077700" cy="1943100"/>
          </a:xfrm>
          <a:prstGeom prst="roundRect">
            <a:avLst>
              <a:gd name="adj" fmla="val 392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5474970" y="5646390"/>
            <a:ext cx="5859780" cy="163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OperacionesResource — depósito ACID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cn.setAutoCommit(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25" dirty="0"/>
          </a:p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16667"/>
              </a:lnSpc>
              <a:buNone/>
            </a:pPr>
            <a:r>
              <a:rPr lang="en-US" sz="1125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UPDATE: bloqueo pesimista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... FROM Cuenta WHERE ... FOR UPDATE"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25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actualizar saldo + insertar movimiento 003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cn.commit();</a:t>
            </a:r>
            <a:endParaRPr lang="en-US" sz="1125" dirty="0"/>
          </a:p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 </a:t>
            </a:r>
            <a:endParaRPr lang="en-US" sz="1125" dirty="0"/>
          </a:p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(Exception e) { cn.rollback(); throw e; }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5105400" y="7443416"/>
            <a:ext cx="6278880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TransferenciasResource coordina retiro (009) + depósito (008) en una única transacción atómica.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5143500" y="9820275"/>
            <a:ext cx="576786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5.2 MICROSERVICIOS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21FE6D65-FEA9-836A-C3D2-649710D97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0"/>
            <a:ext cx="18252459" cy="3455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4795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29718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2971800"/>
            <a:ext cx="9194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90600" y="333375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Consola Java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400" y="36576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90600" y="369570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533400" y="40195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90600" y="405765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533400" y="43815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90600" y="441960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CLIENTES — 6.1 CONSOLA JAVA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BDD_RESTFUL_JAVA_CLICON_G05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5105400" y="1541115"/>
            <a:ext cx="1143000" cy="47774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5105400" y="1912739"/>
            <a:ext cx="13081000" cy="2764036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5676900" y="4243909"/>
            <a:ext cx="3268980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5 · Proyecto en NetBeans.</a:t>
            </a:r>
            <a:endParaRPr lang="en-US" sz="1575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2509500" y="7338665"/>
            <a:ext cx="3268980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6 · Menú con colores ANSI.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5105400" y="9052322"/>
            <a:ext cx="4120515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7 · Tabla de movimientos de cuenta en el cliente consola.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5143500" y="9820275"/>
            <a:ext cx="50228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6.1 CONSOLA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387CF30-61AF-EA8A-A1C1-F309CEB47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357" y="2250876"/>
            <a:ext cx="2514600" cy="189547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40878A5-2AFE-2E22-0A56-F33AA5177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870" y="4833937"/>
            <a:ext cx="5001260" cy="366712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17DE913-9858-B88A-EB3B-5BA21E32A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7754" y="3805237"/>
            <a:ext cx="4657725" cy="35236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4795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29718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2971800"/>
            <a:ext cx="9194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90600" y="333375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Escritorio JavaFX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400" y="36576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90600" y="369570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533400" y="40195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90600" y="405765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533400" y="43815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90600" y="441960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CLIENTES — 6.2 ESCRITORIO JAVAFX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BDD_RESTFUL_JAVA_CLIESC_G05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105400" y="1922115"/>
            <a:ext cx="6278880" cy="524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14"/>
              </a:lnSpc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LoginView usa dos paneles: imagen decorativa a la izquierda, formulario a la derecha. Paleta de color EurekaBank: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105400" y="2542133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3AB4D9"/>
          </a:solidFill>
          <a:ln/>
          <a:effectLst>
            <a:outerShdw blurRad="28575" dist="9525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5734050" y="2542133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F67E80"/>
          </a:solidFill>
          <a:ln/>
          <a:effectLst>
            <a:outerShdw blurRad="28575" dist="9525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6362700" y="2542133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F6DE88"/>
          </a:solidFill>
          <a:ln/>
          <a:effectLst>
            <a:outerShdw blurRad="28575" dist="9525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6991350" y="2542133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9E7CC5"/>
          </a:solidFill>
          <a:ln/>
          <a:effectLst>
            <a:outerShdw blurRad="28575" dist="9525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7620000" y="2542133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AFE0F8"/>
          </a:solidFill>
          <a:ln/>
          <a:effectLst>
            <a:outerShdw blurRad="28575" dist="9525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5105400" y="3151733"/>
            <a:ext cx="6705600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#3ab4d9 · #f67e80 · #f6de88 · #9e7cc5 · #afe0f8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5105400" y="3569047"/>
            <a:ext cx="6705600" cy="281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14"/>
              </a:lnSpc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autenticación usa hash </a:t>
            </a:r>
            <a:r>
              <a:rPr lang="en-US" sz="135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SHA-1 </a:t>
            </a: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clave antes de enviarla al microservicio.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518249" y="7971681"/>
            <a:ext cx="2006501" cy="8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8 · Proyecto JavaFX en NetBeans.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9328100" y="7906792"/>
            <a:ext cx="2006650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9 · LoginView JavaFX.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14719250" y="8086576"/>
            <a:ext cx="2006650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10 · Movimientos y operaciones.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5143500" y="9820275"/>
            <a:ext cx="48116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6.2 JAVAFX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5D8A90-852B-637C-A9C1-669C635CB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5252517"/>
            <a:ext cx="2228850" cy="2057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06B7D10-DD38-397E-833B-C421170F7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150" y="4330368"/>
            <a:ext cx="4842259" cy="334246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9EBEAB2-9B77-6082-F84E-6254EB463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6675" y="4512315"/>
            <a:ext cx="4940325" cy="316051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4795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29718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2971800"/>
            <a:ext cx="9194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90600" y="333375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Web Jakarta 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400" y="36576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90600" y="369570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533400" y="40195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90600" y="405765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533400" y="43815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90600" y="441960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CLIENTES — 6.3 WEB JAKARTA EE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BDD_RESTFUL_JAVA_CLIWEB_G05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4572774" y="1854200"/>
            <a:ext cx="6793230" cy="7831485"/>
          </a:xfrm>
          <a:prstGeom prst="roundRect">
            <a:avLst>
              <a:gd name="adj" fmla="val 125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4792087" y="2042417"/>
            <a:ext cx="5859780" cy="752668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13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LoginServlet — doPost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authOk = controlador.autenticar(usuario, pass); </a:t>
            </a:r>
            <a:r>
              <a:rPr lang="en-US" sz="101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(authOk) {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session.setAttribute(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"usuario"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usuario);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response.sendRedirect(ctx +  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"/menu"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 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request.setAttribute(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"error"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"Credenciales incorrectas o MS fuera de línea"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forward( 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"/login.jsp"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11957685" y="2020937"/>
            <a:ext cx="2006501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11 · Proyecto en NetBeans.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1957685" y="4727798"/>
            <a:ext cx="2006650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12 · login.jsp en navegador.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12052250" y="7322790"/>
            <a:ext cx="2006650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13 · Menú y depósito.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5143500" y="9820275"/>
            <a:ext cx="45156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6.3 WEB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CF3BB3C8-5D29-FBCA-8E15-9DE466B2B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0"/>
            <a:ext cx="18252459" cy="34554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1D3A6EB-528E-4DB1-5108-8B212AE5E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3675" y="2068289"/>
            <a:ext cx="1645031" cy="19704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94E2810-F09F-58D3-1D12-C87231A16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92468" y="4975458"/>
            <a:ext cx="3993361" cy="21473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95D3D51-C577-A6CF-F731-1877208330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43336" y="7633131"/>
            <a:ext cx="4772025" cy="2232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4795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29718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2971800"/>
            <a:ext cx="9194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90600" y="333375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Móvil Android/Kotlin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400" y="36576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90600" y="369570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533400" y="40195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90600" y="405765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533400" y="43815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90600" y="441960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CLIENTES — 6.4 MÓVIL ANDROID/KOTLIN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configurable con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SharedPreferences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4622800" y="1922115"/>
            <a:ext cx="13550899" cy="4021485"/>
          </a:xfrm>
          <a:prstGeom prst="roundRect">
            <a:avLst>
              <a:gd name="adj" fmla="val 125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4727575" y="2886075"/>
            <a:ext cx="6394450" cy="752668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companion object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val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PREF_NAME = </a:t>
            </a:r>
            <a:r>
              <a:rPr lang="en-US" sz="101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"EurekaServicePrefs"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1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val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KEY_SERVER_IP = </a:t>
            </a:r>
            <a:r>
              <a:rPr lang="en-US" sz="101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"server_ip"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1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val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DEFAULT_IP = </a:t>
            </a:r>
            <a:r>
              <a:rPr lang="en-US" sz="101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"192.168.100.2"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1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val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MONOLITO_BASE =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"/WSEurekaBank_Restfull_Java_G5/.../corebancario"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01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fun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getServerIp(): </a:t>
            </a:r>
            <a:r>
              <a:rPr lang="en-US" sz="101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prefs?.getString(KEY_SERVER_IP, DEFAULT_IP) ?: DEFAULT_IP 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cada operación: clase interna AsyncTask + RestCallback&lt;T&gt; </a:t>
            </a:r>
            <a:r>
              <a:rPr lang="en-US" sz="101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AutenticarTask(...) : </a:t>
            </a:r>
            <a:r>
              <a:rPr lang="en-US" sz="101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AsyncTask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&lt;String,Void,Boolean&gt;() {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13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1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 fun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doInBackground(...) = </a:t>
            </a:r>
            <a:r>
              <a:rPr lang="en-US" sz="1013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OkHttp */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1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 fun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onPostExecute(result) = </a:t>
            </a:r>
            <a:r>
              <a:rPr lang="en-US" sz="1013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callback */ </a:t>
            </a:r>
            <a:r>
              <a:rPr lang="en-US" sz="1013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11468100" y="9336286"/>
            <a:ext cx="6705600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14 · Configuración del proyecto Android.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5143500" y="9820275"/>
            <a:ext cx="4690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6.4 MÓVIL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2EDCD035-EDCF-CD71-F07A-7861120B5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0"/>
            <a:ext cx="18252459" cy="34554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DE26141-E420-27E7-7854-257679521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628463"/>
            <a:ext cx="4610100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4795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29718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2971800"/>
            <a:ext cx="9194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90600" y="3333750"/>
            <a:ext cx="3314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Móvil Android/Kotlin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400" y="36576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90600" y="369570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533400" y="40195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90600" y="405765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533400" y="43815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90600" y="441960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CLIENTES — 6.4 MÓVIL ANDROID/KOTLIN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del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105400" y="4419451"/>
            <a:ext cx="6768465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15 · LoginActivity — Material Design.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11410950" y="4419451"/>
            <a:ext cx="6768465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16 · MenuActivity — BottomNav.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5105400" y="7543651"/>
            <a:ext cx="6768465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17 · MovimientosActivity — RecyclerView.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1410950" y="7543651"/>
            <a:ext cx="6768465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50"/>
              </a:lnSpc>
              <a:buNone/>
            </a:pP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18 · Pantalla de depósito.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5143500" y="9820275"/>
            <a:ext cx="4690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6.4 MÓVIL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0C38AE9E-0857-154B-5D06-2F422A0BF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20"/>
            <a:ext cx="18252459" cy="34554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0E69E3E-C31C-6F4C-7AC5-D5B1A76B0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510" y="1371451"/>
            <a:ext cx="1287780" cy="29146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F268510-C2D4-21DF-4E09-BFBB4EB01A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9960" y="1569690"/>
            <a:ext cx="1249680" cy="282892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62F857B-91A3-85A4-EACA-D8A2CFDFE3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290" y="4813905"/>
            <a:ext cx="1143000" cy="25279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924D2E9-D409-C479-D836-9721A18B11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79960" y="4990951"/>
            <a:ext cx="1144544" cy="2552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4795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29718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3009900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33400" y="33337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90600" y="3333750"/>
            <a:ext cx="144244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533400" y="36957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90600" y="373380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533400" y="40576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90600" y="409575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CONCLUSIONES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demuestra </a:t>
            </a: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</a:t>
            </a:r>
            <a:endParaRPr lang="en-US" sz="4200" dirty="0"/>
          </a:p>
        </p:txBody>
      </p:sp>
      <p:sp>
        <p:nvSpPr>
          <p:cNvPr id="26" name="Shape 24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5105400" y="1922115"/>
            <a:ext cx="6143625" cy="1344513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5105400" y="3257104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5105400" y="1922115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5105400" y="1922115"/>
            <a:ext cx="76200" cy="1344513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11239500" y="1922115"/>
            <a:ext cx="9525" cy="134451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5391150" y="2103090"/>
            <a:ext cx="62026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5391150" y="2322165"/>
            <a:ext cx="62026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pragmática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5391150" y="2665065"/>
            <a:ext cx="5807964" cy="45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dual (monolítico + microservicios) junto con el fallback en todos los clientes permite desplegar microservicios gradualmente sin romper la operación.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1420475" y="1922115"/>
            <a:ext cx="6143625" cy="1344513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11420475" y="3257104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11420475" y="1922115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11420475" y="1922115"/>
            <a:ext cx="76200" cy="1344513"/>
          </a:xfrm>
          <a:prstGeom prst="rect">
            <a:avLst/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9" name="Shape 37"/>
          <p:cNvSpPr/>
          <p:nvPr/>
        </p:nvSpPr>
        <p:spPr>
          <a:xfrm>
            <a:off x="17554575" y="1922115"/>
            <a:ext cx="9525" cy="134451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11706225" y="2103090"/>
            <a:ext cx="62026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1706225" y="2322165"/>
            <a:ext cx="62026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 compartida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11706225" y="2665065"/>
            <a:ext cx="5807964" cy="45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 la consistencia de datos sin sincronización, aunque limita la autonomía real de escalabilidad independiente de cada microservicio.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105400" y="3438079"/>
            <a:ext cx="6143625" cy="1554807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4" name="Shape 42"/>
          <p:cNvSpPr/>
          <p:nvPr/>
        </p:nvSpPr>
        <p:spPr>
          <a:xfrm>
            <a:off x="5105400" y="4983361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5" name="Shape 43"/>
          <p:cNvSpPr/>
          <p:nvPr/>
        </p:nvSpPr>
        <p:spPr>
          <a:xfrm>
            <a:off x="5105400" y="3438079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6" name="Shape 44"/>
          <p:cNvSpPr/>
          <p:nvPr/>
        </p:nvSpPr>
        <p:spPr>
          <a:xfrm>
            <a:off x="5105400" y="3438079"/>
            <a:ext cx="76200" cy="1554807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7" name="Shape 45"/>
          <p:cNvSpPr/>
          <p:nvPr/>
        </p:nvSpPr>
        <p:spPr>
          <a:xfrm>
            <a:off x="11239500" y="3438079"/>
            <a:ext cx="9525" cy="1554807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8" name="Text 46"/>
          <p:cNvSpPr/>
          <p:nvPr/>
        </p:nvSpPr>
        <p:spPr>
          <a:xfrm>
            <a:off x="5391150" y="3619054"/>
            <a:ext cx="62026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5391150" y="3838129"/>
            <a:ext cx="62026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JavaFX moderno</a:t>
            </a:r>
            <a:endParaRPr lang="en-US" sz="1575" dirty="0"/>
          </a:p>
        </p:txBody>
      </p:sp>
      <p:sp>
        <p:nvSpPr>
          <p:cNvPr id="50" name="Text 48"/>
          <p:cNvSpPr/>
          <p:nvPr/>
        </p:nvSpPr>
        <p:spPr>
          <a:xfrm>
            <a:off x="5391150" y="4181029"/>
            <a:ext cx="5807964" cy="668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 visualmente atractiva a Swing: Scene Graph, soporte CSS nativo y layouts programáticos logran una identidad visual consistente (#3ab4d9, #f67e80...).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1420475" y="3438079"/>
            <a:ext cx="6143625" cy="1554807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2" name="Shape 50"/>
          <p:cNvSpPr/>
          <p:nvPr/>
        </p:nvSpPr>
        <p:spPr>
          <a:xfrm>
            <a:off x="11420475" y="4983361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3" name="Shape 51"/>
          <p:cNvSpPr/>
          <p:nvPr/>
        </p:nvSpPr>
        <p:spPr>
          <a:xfrm>
            <a:off x="11420475" y="3438079"/>
            <a:ext cx="6143625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4" name="Shape 52"/>
          <p:cNvSpPr/>
          <p:nvPr/>
        </p:nvSpPr>
        <p:spPr>
          <a:xfrm>
            <a:off x="11420475" y="3438079"/>
            <a:ext cx="76200" cy="1554807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5" name="Shape 53"/>
          <p:cNvSpPr/>
          <p:nvPr/>
        </p:nvSpPr>
        <p:spPr>
          <a:xfrm>
            <a:off x="17554575" y="3438079"/>
            <a:ext cx="9525" cy="1554807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6" name="Text 54"/>
          <p:cNvSpPr/>
          <p:nvPr/>
        </p:nvSpPr>
        <p:spPr>
          <a:xfrm>
            <a:off x="11706225" y="3619054"/>
            <a:ext cx="62026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11706225" y="3838129"/>
            <a:ext cx="62026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en runtime</a:t>
            </a:r>
            <a:endParaRPr lang="en-US" sz="1575" dirty="0"/>
          </a:p>
        </p:txBody>
      </p:sp>
      <p:sp>
        <p:nvSpPr>
          <p:cNvPr id="58" name="Text 56"/>
          <p:cNvSpPr/>
          <p:nvPr/>
        </p:nvSpPr>
        <p:spPr>
          <a:xfrm>
            <a:off x="11706225" y="4181029"/>
            <a:ext cx="5807964" cy="45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la IP del servidor en SharedPreferences en Android es una práctica útil en entornos académicos donde la IP de Payara puede cambiar.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143500" y="9820275"/>
            <a:ext cx="55475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07 CONCLUSIONES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75" dirty="0"/>
          </a:p>
        </p:txBody>
      </p:sp>
      <p:sp>
        <p:nvSpPr>
          <p:cNvPr id="61" name="Shape 5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63" name="Imagen 62">
            <a:extLst>
              <a:ext uri="{FF2B5EF4-FFF2-40B4-BE49-F238E27FC236}">
                <a16:creationId xmlns:a16="http://schemas.microsoft.com/office/drawing/2014/main" id="{D7E255C7-9B39-D1A0-FC4C-381479A73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20"/>
            <a:ext cx="18252459" cy="3455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4795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29718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3009900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33400" y="33337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90600" y="337185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533400" y="36957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90600" y="3695700"/>
            <a:ext cx="19463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533400" y="40576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90600" y="4095750"/>
            <a:ext cx="1081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RECOMENDACIONES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 y próximos </a:t>
            </a:r>
            <a:r>
              <a:rPr lang="en-US" sz="4200" b="1" kern="0" spc="-2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4200" dirty="0"/>
          </a:p>
        </p:txBody>
      </p:sp>
      <p:sp>
        <p:nvSpPr>
          <p:cNvPr id="26" name="Shape 24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5105400" y="1922115"/>
            <a:ext cx="4038600" cy="1554807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5105400" y="3467398"/>
            <a:ext cx="40386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5105400" y="1922115"/>
            <a:ext cx="40386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5105400" y="1922115"/>
            <a:ext cx="76200" cy="1554807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9134475" y="1922115"/>
            <a:ext cx="9525" cy="1554807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5391150" y="2103090"/>
            <a:ext cx="38871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· ANDROID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5391150" y="2322165"/>
            <a:ext cx="3887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Migrar a corrutinas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5391150" y="2665065"/>
            <a:ext cx="3639788" cy="668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Reemplazar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AsyncTask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(deprecado) por corrutinas Kotlin con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lifecycleScope.launch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Dispatchers.IO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manteniendo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RestCallback&lt;T&gt;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315450" y="1922115"/>
            <a:ext cx="4038600" cy="1554807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9315450" y="3467398"/>
            <a:ext cx="40386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9315450" y="1922115"/>
            <a:ext cx="40386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9315450" y="1922115"/>
            <a:ext cx="76200" cy="1554807"/>
          </a:xfrm>
          <a:prstGeom prst="rect">
            <a:avLst/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9" name="Shape 37"/>
          <p:cNvSpPr/>
          <p:nvPr/>
        </p:nvSpPr>
        <p:spPr>
          <a:xfrm>
            <a:off x="13344525" y="1922115"/>
            <a:ext cx="9525" cy="1554807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9601200" y="2103090"/>
            <a:ext cx="38871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· DATOS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9601200" y="2322165"/>
            <a:ext cx="3887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por microservicio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9601200" y="2665065"/>
            <a:ext cx="3639788" cy="668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microservicio con su propia base de datos independiente (autenticacion_db, cuentas_db...) para eliminar el acoplamiento a nivel de datos.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3525500" y="1922115"/>
            <a:ext cx="4038600" cy="1554807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4" name="Shape 42"/>
          <p:cNvSpPr/>
          <p:nvPr/>
        </p:nvSpPr>
        <p:spPr>
          <a:xfrm>
            <a:off x="13525500" y="3467398"/>
            <a:ext cx="40386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5" name="Shape 43"/>
          <p:cNvSpPr/>
          <p:nvPr/>
        </p:nvSpPr>
        <p:spPr>
          <a:xfrm>
            <a:off x="13525500" y="1922115"/>
            <a:ext cx="4038600" cy="9525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6" name="Shape 44"/>
          <p:cNvSpPr/>
          <p:nvPr/>
        </p:nvSpPr>
        <p:spPr>
          <a:xfrm>
            <a:off x="13525500" y="1922115"/>
            <a:ext cx="76200" cy="1554807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7" name="Shape 45"/>
          <p:cNvSpPr/>
          <p:nvPr/>
        </p:nvSpPr>
        <p:spPr>
          <a:xfrm>
            <a:off x="17554575" y="1922115"/>
            <a:ext cx="9525" cy="1554807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8" name="Text 46"/>
          <p:cNvSpPr/>
          <p:nvPr/>
        </p:nvSpPr>
        <p:spPr>
          <a:xfrm>
            <a:off x="13811250" y="2103090"/>
            <a:ext cx="38871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· CONFIGURACIÓN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3811250" y="2322165"/>
            <a:ext cx="3887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Externalizar IPs</a:t>
            </a:r>
            <a:endParaRPr lang="en-US" sz="1575" dirty="0"/>
          </a:p>
        </p:txBody>
      </p:sp>
      <p:sp>
        <p:nvSpPr>
          <p:cNvPr id="50" name="Text 48"/>
          <p:cNvSpPr/>
          <p:nvPr/>
        </p:nvSpPr>
        <p:spPr>
          <a:xfrm>
            <a:off x="13811250" y="2665065"/>
            <a:ext cx="3639788" cy="668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67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 las IPs de los microservicios en los clientes Java a un </a:t>
            </a: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config.properties 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siguiendo el patrón de SharedPreferences de Android.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143500" y="9820275"/>
            <a:ext cx="598019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08 RECOMENDACIONES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75" dirty="0"/>
          </a:p>
        </p:txBody>
      </p:sp>
      <p:sp>
        <p:nvSpPr>
          <p:cNvPr id="53" name="Shape 5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55" name="Imagen 54">
            <a:extLst>
              <a:ext uri="{FF2B5EF4-FFF2-40B4-BE49-F238E27FC236}">
                <a16:creationId xmlns:a16="http://schemas.microsoft.com/office/drawing/2014/main" id="{BA471B12-FAF3-B822-F32E-C1B1578A8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0"/>
            <a:ext cx="18252459" cy="3455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1620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90600" y="1200150"/>
            <a:ext cx="11056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15240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90600" y="1562100"/>
            <a:ext cx="86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18859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90600" y="1924050"/>
            <a:ext cx="1256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33400" y="22479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90600" y="2286000"/>
            <a:ext cx="131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90600" y="2647950"/>
            <a:ext cx="1528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REST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29718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3009900"/>
            <a:ext cx="75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33400" y="33337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90600" y="3371850"/>
            <a:ext cx="1206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533400" y="369570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90600" y="3733800"/>
            <a:ext cx="16295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9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533400" y="4057650"/>
            <a:ext cx="400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90600" y="4057650"/>
            <a:ext cx="129793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05400" y="533400"/>
            <a:ext cx="13704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428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REFERENCIAS BIBLIOGRÁFICAS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105400" y="904875"/>
            <a:ext cx="1370457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430"/>
              </a:lnSpc>
              <a:buNone/>
            </a:pPr>
            <a:r>
              <a:rPr lang="en-US" sz="4200" b="1" kern="0" spc="-2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4200" dirty="0"/>
          </a:p>
        </p:txBody>
      </p:sp>
      <p:sp>
        <p:nvSpPr>
          <p:cNvPr id="26" name="Shape 24"/>
          <p:cNvSpPr/>
          <p:nvPr/>
        </p:nvSpPr>
        <p:spPr>
          <a:xfrm>
            <a:off x="5105400" y="15411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5429250" y="2017365"/>
            <a:ext cx="12508611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 Foundation (2023).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 RESTful Web Services 3.1. </a:t>
            </a: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jakarta.ee/specifications/restful-ws/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429250" y="2439739"/>
            <a:ext cx="12508611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Foundation (2024).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Server 6 Documentation. </a:t>
            </a: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docs.payara.fish/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5429250" y="2862114"/>
            <a:ext cx="12508611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 (2024).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RDS for MySQL. </a:t>
            </a: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docs.aws.amazon.com/AmazonRDS/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5429250" y="3284488"/>
            <a:ext cx="12508611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Corporation (2024).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JavaFX Documentation. </a:t>
            </a: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openjfx.io/openjfx-docs/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5429250" y="3706862"/>
            <a:ext cx="12508611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Inc. (2024).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OkHttp Documentation. </a:t>
            </a: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square.github.io/okhttp/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5429250" y="4129236"/>
            <a:ext cx="12508611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(2024).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Gson — Java serialization/deserialization. </a:t>
            </a: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github.com/google/gson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5429250" y="4551611"/>
            <a:ext cx="12508611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OpenJDK (2021). </a:t>
            </a:r>
            <a:r>
              <a:rPr lang="en-US" sz="1575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11 HttpClient API. </a:t>
            </a:r>
            <a:r>
              <a:rPr lang="en-US" sz="1575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docs.oracle.com/en/java/javase/11/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5419204" y="8905875"/>
            <a:ext cx="210679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5419204" y="9324975"/>
            <a:ext cx="21067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350" kern="0" spc="27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05 · 2026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143500" y="9820275"/>
            <a:ext cx="538576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EUREKABANK_RESTFUL_JAVA_GR05 · 09 REFERENCIAS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7585829" y="9791700"/>
            <a:ext cx="321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5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 rotWithShape="1">
            <a:gsLst>
              <a:gs pos="0">
                <a:srgbClr val="1A3260">
                  <a:alpha val="100000"/>
                </a:srgbClr>
              </a:gs>
              <a:gs pos="70000">
                <a:srgbClr val="1A3260">
                  <a:alpha val="100000"/>
                </a:srgbClr>
              </a:gs>
              <a:gs pos="70000">
                <a:srgbClr val="42955F">
                  <a:alpha val="100000"/>
                </a:srgbClr>
              </a:gs>
              <a:gs pos="100000">
                <a:srgbClr val="42955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C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ACEB5ED4-7C3D-418C-2AFA-9EB9F81A8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0"/>
            <a:ext cx="18252459" cy="3455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3104</Words>
  <Application>Microsoft Office PowerPoint</Application>
  <PresentationFormat>Custom</PresentationFormat>
  <Paragraphs>745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IGNACIO PROA�O VASCONEZ</cp:lastModifiedBy>
  <cp:revision>3</cp:revision>
  <dcterms:created xsi:type="dcterms:W3CDTF">2026-07-27T01:20:28Z</dcterms:created>
  <dcterms:modified xsi:type="dcterms:W3CDTF">2026-07-27T03:33:49Z</dcterms:modified>
</cp:coreProperties>
</file>